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Helvetica World Bold" panose="020B0604020202020204" charset="-128"/>
      <p:regular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Canva Sans" panose="020B0604020202020204" charset="0"/>
      <p:regular r:id="rId26"/>
    </p:embeddedFont>
    <p:embeddedFont>
      <p:font typeface="Canva San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8"/>
          </a:xfrm>
          <a:custGeom>
            <a:avLst/>
            <a:gdLst/>
            <a:ahLst/>
            <a:cxnLst/>
            <a:rect l="l" t="t" r="r" b="b"/>
            <a:pathLst>
              <a:path w="1467612" h="759208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-45596" y="3475208"/>
            <a:ext cx="18288000" cy="189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C925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PHARMACOVIGILANCE ADVERSE EVENT PROCESSING SYSTEM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61028" y="7669383"/>
            <a:ext cx="3503613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C925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</a:t>
            </a:r>
          </a:p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C925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HARI KRISHNAN P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28600" y="1724219"/>
            <a:ext cx="8762999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4125" y="3447484"/>
            <a:ext cx="17159749" cy="4246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2"/>
              </a:lnSpc>
            </a:pPr>
            <a:r>
              <a:rPr lang="en-US" sz="34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Pharmacovigilance teams manage large volumes of unstructured adverse event reports. Manual seriousness assessment is slow, inconsistent, and not scalable, causing delays in safety signal detection and regulatory compliance. 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802"/>
              </a:lnSpc>
            </a:pPr>
            <a:r>
              <a:rPr lang="en-US" sz="34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Fully automated AI approaches are unsuitable due to the need for transparency and human oversight. Therefore, a hybrid decision-support system combining machine learning, rule-based escalation, and expert review is required.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27282" y="1818022"/>
            <a:ext cx="8688118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9932" y="3676619"/>
            <a:ext cx="17673623" cy="485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0536" lvl="1" indent="-370268" algn="just">
              <a:lnSpc>
                <a:spcPts val="4801"/>
              </a:lnSpc>
              <a:buFont typeface="Arial"/>
              <a:buChar char="•"/>
            </a:pPr>
            <a:r>
              <a:rPr lang="en-US" sz="34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Retrieval &amp; Enrichment : </a:t>
            </a:r>
            <a:r>
              <a:rPr lang="en-US" sz="34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Historical adverse event cases and regulatory context are retrieved from a vector database to enrich incoming reports.</a:t>
            </a:r>
          </a:p>
          <a:p>
            <a:pPr algn="just">
              <a:lnSpc>
                <a:spcPts val="4801"/>
              </a:lnSpc>
            </a:pPr>
            <a:endParaRPr lang="en-US" sz="342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0536" lvl="1" indent="-370268" algn="just">
              <a:lnSpc>
                <a:spcPts val="4801"/>
              </a:lnSpc>
              <a:buFont typeface="Arial"/>
              <a:buChar char="•"/>
            </a:pPr>
            <a:r>
              <a:rPr lang="en-US" sz="34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Classification :</a:t>
            </a:r>
            <a:r>
              <a:rPr lang="en-US" sz="34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machine learning model predicts event seriousness (serious vs. non-serious)</a:t>
            </a:r>
          </a:p>
          <a:p>
            <a:pPr algn="just">
              <a:lnSpc>
                <a:spcPts val="4801"/>
              </a:lnSpc>
            </a:pPr>
            <a:endParaRPr lang="en-US" sz="342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0536" lvl="1" indent="-370268" algn="just">
              <a:lnSpc>
                <a:spcPts val="4801"/>
              </a:lnSpc>
              <a:buFont typeface="Arial"/>
              <a:buChar char="•"/>
            </a:pPr>
            <a:r>
              <a:rPr lang="en-US" sz="34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Rule-Based Escalation : </a:t>
            </a:r>
            <a:r>
              <a:rPr lang="en-US" sz="34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Predefined regulatory rules classify events as low, </a:t>
            </a:r>
          </a:p>
          <a:p>
            <a:pPr algn="just">
              <a:lnSpc>
                <a:spcPts val="4801"/>
              </a:lnSpc>
            </a:pPr>
            <a:endParaRPr lang="en-US" sz="342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8098" y="2681288"/>
            <a:ext cx="17455458" cy="653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Reasoning :</a:t>
            </a: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Reviews ML predictions against retrieved context and flags potential inconsistencies for transparency.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endParaRPr lang="en-US" sz="3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Explanation :</a:t>
            </a: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Generates a concise summary of the adverse event report, highlighting key details such as drug name, event description, and risk indicators 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endParaRPr lang="en-US" sz="3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Alerting Mechanism :</a:t>
            </a: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Critical events automatically trigger email notifications to notify relevant stakeholders for immediate attention.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endParaRPr lang="en-US" sz="3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320"/>
              </a:lnSpc>
              <a:spcBef>
                <a:spcPct val="0"/>
              </a:spcBef>
            </a:pPr>
            <a:endParaRPr lang="en-US" sz="3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2397373" y="2750277"/>
            <a:ext cx="13560817" cy="6694413"/>
          </a:xfrm>
          <a:custGeom>
            <a:avLst/>
            <a:gdLst/>
            <a:ahLst/>
            <a:cxnLst/>
            <a:rect l="l" t="t" r="r" b="b"/>
            <a:pathLst>
              <a:path w="13560817" h="6694413">
                <a:moveTo>
                  <a:pt x="0" y="0"/>
                </a:moveTo>
                <a:lnTo>
                  <a:pt x="13560817" y="0"/>
                </a:lnTo>
                <a:lnTo>
                  <a:pt x="13560817" y="6694413"/>
                </a:lnTo>
                <a:lnTo>
                  <a:pt x="0" y="6694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438098" y="1470752"/>
            <a:ext cx="9696502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96282" y="1638859"/>
            <a:ext cx="6964717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</a:t>
            </a:r>
            <a:r>
              <a:rPr lang="en-US" sz="5499" b="1" dirty="0">
                <a:solidFill>
                  <a:srgbClr val="C925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0030" y="2858333"/>
            <a:ext cx="16781440" cy="119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697" lvl="1" indent="-371348" algn="just">
              <a:lnSpc>
                <a:spcPts val="4816"/>
              </a:lnSpc>
              <a:buFont typeface="Arial"/>
              <a:buChar char="•"/>
            </a:pPr>
            <a:r>
              <a:rPr lang="en-US" sz="34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classification model is built using </a:t>
            </a:r>
            <a:r>
              <a:rPr lang="en-US" sz="344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 Regression</a:t>
            </a:r>
            <a:r>
              <a:rPr lang="en-US" sz="34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 weight-based supervised learning algorithm.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0" y="4618768"/>
            <a:ext cx="4053353" cy="922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C925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REASON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9977" y="5858051"/>
            <a:ext cx="16559270" cy="18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697" lvl="1" indent="-371348" algn="just">
              <a:lnSpc>
                <a:spcPts val="4816"/>
              </a:lnSpc>
              <a:buFont typeface="Arial"/>
              <a:buChar char="•"/>
            </a:pPr>
            <a:r>
              <a:rPr lang="en-US" sz="344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Logistic Regression was selected due to its effectiveness in handling the imbalanced class distribution </a:t>
            </a:r>
            <a:r>
              <a:rPr lang="en-US" sz="344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(Serious : Non-Serious ≈ 1 : 5.4)</a:t>
            </a:r>
            <a:r>
              <a:rPr lang="en-US" sz="344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through weight-based </a:t>
            </a:r>
            <a:r>
              <a:rPr lang="en-US" sz="344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classification.dy</a:t>
            </a:r>
            <a:r>
              <a:rPr lang="en-US" sz="344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38098" y="1819648"/>
            <a:ext cx="1861524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</a:t>
            </a:r>
            <a:r>
              <a:rPr lang="en-US" sz="5499" b="1" dirty="0">
                <a:solidFill>
                  <a:srgbClr val="C925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6171" y="2784848"/>
            <a:ext cx="17297452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Three algorithms were considered for the classification task: Naive Bayes, Support Vector Machine (SVM), and Logistic Regression.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Naive Bayes 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may perform poorly due to its strong feature independence assumption on text data.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SVM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It can be computationally expensive and provides limited probability interpretability for imbalanced datasets.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 Regression 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it offers weight-based, interpretable predictions and handles class imbalance more effectively.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71264" y="1714375"/>
            <a:ext cx="9482336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RETRIVAL &amp; ENRICHMENT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2396" y="3480438"/>
            <a:ext cx="16706850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When an adverse event report is received, the text is split into sentences and converted into semantic vectors using a sentence transformer.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These vectors are stored in a vector database along with historical adverse event cases and regulatory information. Using RAG, the system retrieves the most relevant past cases and context based on similarity.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retrieved information enriches the incoming report before it is passed to the machine learning classification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38098" y="1787606"/>
            <a:ext cx="7562902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CLASSIFICATION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1791" y="3399092"/>
            <a:ext cx="16337509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ML classification model is built using Logistic Regression, a weight-based supervised learning algorithm, with TF-IDF features extracted from adverse event text.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predicts whether an event is Serious or Non-Serious. Since missing serious cases can impact patient safety, recall is prioritized as the primary evaluation metric.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handle class imbalance, class weighting and decision-threshold tuning are applied to achieve high recall while controlling false positives.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12784" y="1836427"/>
            <a:ext cx="9159815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 BASED ESCALATION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0199" y="3207683"/>
            <a:ext cx="17723357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rule-based engine scans adverse event text for predefined high-risk medical and regulatory keywords such as hospitalization, death, ICU admission, and life-threatening conditions.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any of these keywords are detected, the event is immediately classified as Serious, overriding the ML prediction. For cases without explicit high-risk indicators, the ML prediction is evaluated using a tuned seriousness threshold to prioritize recall.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approach helps reduce the risk of missing critical events. Overall, the rule-based engine improves transparency, supports regulatory compliance, and strengthens patient safety.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38098" y="1738785"/>
            <a:ext cx="50736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REASONING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7496" y="3374682"/>
            <a:ext cx="17792205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AI reasoning component provides medical context and interpretability for the machine learning classifier’s predictions. It uses a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Gemma 2:2B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analyze the adverse event description along with the ML prediction and confidence score.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AI generates concise medical reasoning indicating whether the ML prediction is supported or potentially challenged.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AI does not approve, reject, or override the ML decision. Instead, it helps flag cases that may require closer human review, improving transparency and trust in the system.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802049" y="1893385"/>
            <a:ext cx="6513151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</a:t>
            </a:r>
            <a:r>
              <a:rPr lang="en-US" sz="5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EXPLANATION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3427" y="3372935"/>
            <a:ext cx="17021146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AI explanation component generates a short, clinical justification for each adverse event classification. It uses a lightweight llama 3.1 to explain why an event was classified as serious or non-serious based on ML output and rule-based indicators.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explanation considers the drug name, adverse event description, probability score, triggered keywords, and assigned risk level. 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Its role is limited to improving transparency and interpretability. If the AI service is unavailable, the system continues safely without generating an explanation.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38098" y="1698101"/>
            <a:ext cx="8553502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ALERTING</a:t>
            </a:r>
            <a:r>
              <a:rPr lang="en-US" sz="5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MECHANISM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3388481"/>
            <a:ext cx="15313176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Email Escalation Service is used to alert safety officers whenever a report is identified as serious or critical.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When triggered, it sends a simple text-based email using preconfigured SMTP settings.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email contains important information such as the report ID, drug name, adverse event details, risk level, and the explanation generated by the system.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helps ensure that high-risk cases are reviewed without delay.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438098" y="4051825"/>
            <a:ext cx="7885701" cy="3785137"/>
          </a:xfrm>
          <a:custGeom>
            <a:avLst/>
            <a:gdLst/>
            <a:ahLst/>
            <a:cxnLst/>
            <a:rect l="l" t="t" r="r" b="b"/>
            <a:pathLst>
              <a:path w="7885701" h="3785137">
                <a:moveTo>
                  <a:pt x="0" y="0"/>
                </a:moveTo>
                <a:lnTo>
                  <a:pt x="7885701" y="0"/>
                </a:lnTo>
                <a:lnTo>
                  <a:pt x="7885701" y="3785137"/>
                </a:lnTo>
                <a:lnTo>
                  <a:pt x="0" y="37851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9128049" y="4051825"/>
            <a:ext cx="8061928" cy="3914384"/>
          </a:xfrm>
          <a:custGeom>
            <a:avLst/>
            <a:gdLst/>
            <a:ahLst/>
            <a:cxnLst/>
            <a:rect l="l" t="t" r="r" b="b"/>
            <a:pathLst>
              <a:path w="8061928" h="3914384">
                <a:moveTo>
                  <a:pt x="0" y="0"/>
                </a:moveTo>
                <a:lnTo>
                  <a:pt x="8061928" y="0"/>
                </a:lnTo>
                <a:lnTo>
                  <a:pt x="8061928" y="3914384"/>
                </a:lnTo>
                <a:lnTo>
                  <a:pt x="0" y="39143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438098" y="1955655"/>
            <a:ext cx="2882801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C925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302241" y="3999799"/>
            <a:ext cx="7302884" cy="3161564"/>
          </a:xfrm>
          <a:custGeom>
            <a:avLst/>
            <a:gdLst/>
            <a:ahLst/>
            <a:cxnLst/>
            <a:rect l="l" t="t" r="r" b="b"/>
            <a:pathLst>
              <a:path w="7302884" h="3161564">
                <a:moveTo>
                  <a:pt x="0" y="0"/>
                </a:moveTo>
                <a:lnTo>
                  <a:pt x="7302885" y="0"/>
                </a:lnTo>
                <a:lnTo>
                  <a:pt x="7302885" y="3161564"/>
                </a:lnTo>
                <a:lnTo>
                  <a:pt x="0" y="3161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927933" y="4075645"/>
            <a:ext cx="7568742" cy="3085718"/>
          </a:xfrm>
          <a:custGeom>
            <a:avLst/>
            <a:gdLst/>
            <a:ahLst/>
            <a:cxnLst/>
            <a:rect l="l" t="t" r="r" b="b"/>
            <a:pathLst>
              <a:path w="7568742" h="3085718">
                <a:moveTo>
                  <a:pt x="0" y="0"/>
                </a:moveTo>
                <a:lnTo>
                  <a:pt x="7568742" y="0"/>
                </a:lnTo>
                <a:lnTo>
                  <a:pt x="7568742" y="3085718"/>
                </a:lnTo>
                <a:lnTo>
                  <a:pt x="0" y="30857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438098" y="2059851"/>
            <a:ext cx="8274849" cy="2811481"/>
          </a:xfrm>
          <a:custGeom>
            <a:avLst/>
            <a:gdLst/>
            <a:ahLst/>
            <a:cxnLst/>
            <a:rect l="l" t="t" r="r" b="b"/>
            <a:pathLst>
              <a:path w="8274849" h="2811481">
                <a:moveTo>
                  <a:pt x="0" y="0"/>
                </a:moveTo>
                <a:lnTo>
                  <a:pt x="8274848" y="0"/>
                </a:lnTo>
                <a:lnTo>
                  <a:pt x="8274848" y="2811481"/>
                </a:lnTo>
                <a:lnTo>
                  <a:pt x="0" y="2811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8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428633" y="5338206"/>
            <a:ext cx="8715367" cy="3726064"/>
          </a:xfrm>
          <a:custGeom>
            <a:avLst/>
            <a:gdLst/>
            <a:ahLst/>
            <a:cxnLst/>
            <a:rect l="l" t="t" r="r" b="b"/>
            <a:pathLst>
              <a:path w="8715367" h="3726064">
                <a:moveTo>
                  <a:pt x="0" y="0"/>
                </a:moveTo>
                <a:lnTo>
                  <a:pt x="8715367" y="0"/>
                </a:lnTo>
                <a:lnTo>
                  <a:pt x="8715367" y="3726064"/>
                </a:lnTo>
                <a:lnTo>
                  <a:pt x="0" y="37260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374005" y="4263363"/>
            <a:ext cx="8299619" cy="1760274"/>
          </a:xfrm>
          <a:custGeom>
            <a:avLst/>
            <a:gdLst/>
            <a:ahLst/>
            <a:cxnLst/>
            <a:rect l="l" t="t" r="r" b="b"/>
            <a:pathLst>
              <a:path w="8299619" h="1760274">
                <a:moveTo>
                  <a:pt x="0" y="0"/>
                </a:moveTo>
                <a:lnTo>
                  <a:pt x="8299618" y="0"/>
                </a:lnTo>
                <a:lnTo>
                  <a:pt x="8299618" y="1760274"/>
                </a:lnTo>
                <a:lnTo>
                  <a:pt x="0" y="17602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517" t="-17186" r="-3216" b="-1819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38098" y="1982676"/>
            <a:ext cx="5124502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2981" y="3705817"/>
            <a:ext cx="15577114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implements a hybrid pharmacovigilance system that combines machine learning, rule-based escalation, and AI-driven explanations to support adverse event processing. 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approach improves efficiency and consistency while prioritizing patient safety and regulatory compliance. Critical cases are automatically escalated for timely human review, with final decisions remaining under expert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" y="0"/>
            <a:ext cx="15758770" cy="121520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86" y="9556871"/>
            <a:ext cx="18283514" cy="732053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A white text on a black background  Description automatically generated"/>
          <p:cNvSpPr/>
          <p:nvPr/>
        </p:nvSpPr>
        <p:spPr>
          <a:xfrm>
            <a:off x="4249636" y="9531144"/>
            <a:ext cx="9788738" cy="755856"/>
          </a:xfrm>
          <a:custGeom>
            <a:avLst/>
            <a:gdLst/>
            <a:ahLst/>
            <a:cxnLst/>
            <a:rect l="l" t="t" r="r" b="b"/>
            <a:pathLst>
              <a:path w="9788738" h="755856">
                <a:moveTo>
                  <a:pt x="0" y="0"/>
                </a:moveTo>
                <a:lnTo>
                  <a:pt x="9788738" y="0"/>
                </a:lnTo>
                <a:lnTo>
                  <a:pt x="9788738" y="755856"/>
                </a:lnTo>
                <a:lnTo>
                  <a:pt x="0" y="7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239" r="-3" b="-5267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486" y="1305192"/>
            <a:ext cx="7156542" cy="68580"/>
            <a:chOff x="0" y="0"/>
            <a:chExt cx="9542056" cy="91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06108" y="-1924"/>
            <a:ext cx="1350664" cy="1200283"/>
            <a:chOff x="0" y="0"/>
            <a:chExt cx="1800885" cy="1600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0"/>
            <a:ext cx="1181100" cy="1198369"/>
            <a:chOff x="0" y="0"/>
            <a:chExt cx="1574800" cy="1597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89883" y="9779298"/>
            <a:ext cx="3800094" cy="33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45596" y="-29080"/>
            <a:ext cx="967388" cy="1237383"/>
            <a:chOff x="0" y="0"/>
            <a:chExt cx="1289850" cy="1649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059246" y="9556871"/>
            <a:ext cx="1228754" cy="755856"/>
            <a:chOff x="0" y="0"/>
            <a:chExt cx="1638338" cy="1007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9556869"/>
            <a:ext cx="1467612" cy="75920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281417" y="9572920"/>
            <a:ext cx="1006583" cy="755856"/>
            <a:chOff x="0" y="0"/>
            <a:chExt cx="1342111" cy="100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03597" y="9556871"/>
            <a:ext cx="779917" cy="755856"/>
            <a:chOff x="0" y="0"/>
            <a:chExt cx="1039889" cy="1007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6284" y="-44244"/>
            <a:ext cx="1463812" cy="1463812"/>
          </a:xfrm>
          <a:custGeom>
            <a:avLst/>
            <a:gdLst/>
            <a:ahLst/>
            <a:cxnLst/>
            <a:rect l="l" t="t" r="r" b="b"/>
            <a:pathLst>
              <a:path w="1463812" h="1463812">
                <a:moveTo>
                  <a:pt x="0" y="0"/>
                </a:moveTo>
                <a:lnTo>
                  <a:pt x="1463812" y="0"/>
                </a:lnTo>
                <a:lnTo>
                  <a:pt x="1463812" y="1463812"/>
                </a:lnTo>
                <a:lnTo>
                  <a:pt x="0" y="146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38098" y="1958479"/>
            <a:ext cx="7639102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DIRECTIONS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4895" y="3676154"/>
            <a:ext cx="17151877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can be enhanced by using larger and more diverse datasets to improve robustness.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techniques for handling class imbalance and regular model retraining can improve detection of rare serious events.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Integration with real-time reporting systems may enable faster safety signal detection.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close-up of hands shaking  Description automatically generated"/>
          <p:cNvSpPr/>
          <p:nvPr/>
        </p:nvSpPr>
        <p:spPr>
          <a:xfrm>
            <a:off x="3783540" y="19"/>
            <a:ext cx="14504460" cy="10286981"/>
          </a:xfrm>
          <a:custGeom>
            <a:avLst/>
            <a:gdLst/>
            <a:ahLst/>
            <a:cxnLst/>
            <a:rect l="l" t="t" r="r" b="b"/>
            <a:pathLst>
              <a:path w="14504460" h="10286981">
                <a:moveTo>
                  <a:pt x="0" y="0"/>
                </a:moveTo>
                <a:lnTo>
                  <a:pt x="14504460" y="0"/>
                </a:lnTo>
                <a:lnTo>
                  <a:pt x="14504460" y="10286981"/>
                </a:lnTo>
                <a:lnTo>
                  <a:pt x="0" y="10286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534479" y="-19"/>
            <a:ext cx="8781221" cy="10287000"/>
            <a:chOff x="0" y="0"/>
            <a:chExt cx="11708295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08257" cy="13716000"/>
            </a:xfrm>
            <a:custGeom>
              <a:avLst/>
              <a:gdLst/>
              <a:ahLst/>
              <a:cxnLst/>
              <a:rect l="l" t="t" r="r" b="b"/>
              <a:pathLst>
                <a:path w="11708257" h="13716000">
                  <a:moveTo>
                    <a:pt x="0" y="0"/>
                  </a:moveTo>
                  <a:lnTo>
                    <a:pt x="11708257" y="0"/>
                  </a:lnTo>
                  <a:lnTo>
                    <a:pt x="1170825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73000">
                  <a:srgbClr val="FFFFFF">
                    <a:alpha val="0"/>
                  </a:srgbClr>
                </a:gs>
              </a:gsLst>
              <a:lin ang="108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432362"/>
            <a:ext cx="7166629" cy="5538788"/>
            <a:chOff x="0" y="0"/>
            <a:chExt cx="9555505" cy="7385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55500" cy="7385050"/>
            </a:xfrm>
            <a:custGeom>
              <a:avLst/>
              <a:gdLst/>
              <a:ahLst/>
              <a:cxnLst/>
              <a:rect l="l" t="t" r="r" b="b"/>
              <a:pathLst>
                <a:path w="9555500" h="7385050">
                  <a:moveTo>
                    <a:pt x="0" y="0"/>
                  </a:moveTo>
                  <a:lnTo>
                    <a:pt x="9555500" y="0"/>
                  </a:lnTo>
                  <a:lnTo>
                    <a:pt x="9555500" y="7385050"/>
                  </a:lnTo>
                  <a:lnTo>
                    <a:pt x="0" y="738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160" r="-491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4775"/>
              <a:ext cx="9555505" cy="7280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9000" b="1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</a:t>
              </a:r>
              <a:r>
                <a:rPr lang="en-US" sz="9000" b="1">
                  <a:solidFill>
                    <a:srgbClr val="0062C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Thank You</a:t>
              </a:r>
            </a:p>
          </p:txBody>
        </p:sp>
      </p:grpSp>
      <p:sp>
        <p:nvSpPr>
          <p:cNvPr id="8" name="Freeform 8" descr="A blue and grey text on a black background  AI-generated content may be incorrect."/>
          <p:cNvSpPr/>
          <p:nvPr/>
        </p:nvSpPr>
        <p:spPr>
          <a:xfrm>
            <a:off x="820903" y="3732981"/>
            <a:ext cx="5925274" cy="1628346"/>
          </a:xfrm>
          <a:custGeom>
            <a:avLst/>
            <a:gdLst/>
            <a:ahLst/>
            <a:cxnLst/>
            <a:rect l="l" t="t" r="r" b="b"/>
            <a:pathLst>
              <a:path w="5925274" h="1628346">
                <a:moveTo>
                  <a:pt x="0" y="0"/>
                </a:moveTo>
                <a:lnTo>
                  <a:pt x="5925274" y="0"/>
                </a:lnTo>
                <a:lnTo>
                  <a:pt x="5925274" y="1628346"/>
                </a:lnTo>
                <a:lnTo>
                  <a:pt x="0" y="1628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1107</Words>
  <Application>Microsoft Office PowerPoint</Application>
  <PresentationFormat>Custom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Canva Sans Bold</vt:lpstr>
      <vt:lpstr>Helvetica World Bold</vt:lpstr>
      <vt:lpstr>Cambria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Pharmacovigilance Adverse Event Processing System</dc:title>
  <cp:lastModifiedBy>Hari Krishnan Balasubramanian</cp:lastModifiedBy>
  <cp:revision>2</cp:revision>
  <dcterms:created xsi:type="dcterms:W3CDTF">2006-08-16T00:00:00Z</dcterms:created>
  <dcterms:modified xsi:type="dcterms:W3CDTF">2026-02-05T14:09:51Z</dcterms:modified>
  <dc:identifier>DAHAbFt613A</dc:identifier>
</cp:coreProperties>
</file>